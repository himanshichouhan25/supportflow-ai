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Nunito Light" pitchFamily="2" charset="0"/>
      <p:regular r:id="rId17"/>
      <p:italic r:id="rId18"/>
    </p:embeddedFont>
    <p:embeddedFont>
      <p:font typeface="Nunito SemiBold" pitchFamily="2" charset="0"/>
      <p:bold r:id="rId19"/>
    </p:embeddedFont>
    <p:embeddedFont>
      <p:font typeface="PT Sans" panose="020B0503020203020204" pitchFamily="34" charset="0"/>
      <p:regular r:id="rId20"/>
      <p:italic r:id="rId21"/>
    </p:embeddedFont>
    <p:embeddedFont>
      <p:font typeface="PT Sans Bold" panose="020B0703020203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51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85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wipe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rawpixel.com/search/silhouette%20meeting" TargetMode="Externa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1063625"/>
            <a:ext cx="1310349" cy="196949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4" name="Text 1"/>
          <p:cNvSpPr/>
          <p:nvPr/>
        </p:nvSpPr>
        <p:spPr>
          <a:xfrm>
            <a:off x="775871" y="1102519"/>
            <a:ext cx="1764363" cy="1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ARYA'S DOMAINVERSE 1.0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98086" y="1294209"/>
            <a:ext cx="6223638" cy="2288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SupportFlow AI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98086" y="3708797"/>
            <a:ext cx="6223638" cy="30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AI-Powered Multi-Agent Customer Support System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98086" y="4140299"/>
            <a:ext cx="6833223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EXPLORE | SOLVE | INNOVATE | BEYOND LIMITS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8086" y="4438551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00002E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04723" y="4584700"/>
            <a:ext cx="2878760" cy="1209576"/>
          </a:xfrm>
          <a:prstGeom prst="roundRect">
            <a:avLst>
              <a:gd name="adj" fmla="val 25727"/>
            </a:avLst>
          </a:prstGeom>
          <a:solidFill>
            <a:srgbClr val="000000">
              <a:alpha val="7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34300" y="4668937"/>
            <a:ext cx="2619607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Creator Information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4300" y="4943773"/>
            <a:ext cx="2619607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by: Himanshi Chouhan</a:t>
            </a:r>
            <a:endParaRPr lang="en-US" sz="8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Roll number: 24EACCA033</a:t>
            </a:r>
            <a:endParaRPr lang="en-US" sz="8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Branch: CSAI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Batch: Alpha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712772" y="4668937"/>
            <a:ext cx="321520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Event Details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12772" y="4943773"/>
            <a:ext cx="3215202" cy="371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6-Day Technical Problem-Solving Program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Arya College of Engineering (ACE)</a:t>
            </a:r>
            <a:endParaRPr lang="en-US" sz="1000" dirty="0"/>
          </a:p>
        </p:txBody>
      </p:sp>
    </p:spTree>
  </p:cSld>
  <p:clrMapOvr>
    <a:masterClrMapping/>
  </p:clrMapOvr>
  <p:transition spd="slow">
    <p:wipe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481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Problem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333823"/>
            <a:ext cx="3465525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6560" y="2552303"/>
            <a:ext cx="30285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🧩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Fragmented Issues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6560" y="2965252"/>
            <a:ext cx="30285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Orders, payments, refunds, deliveries — each a separate silo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2333823"/>
            <a:ext cx="3465525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1510" y="2552303"/>
            <a:ext cx="30285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🔀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Manual Routing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81510" y="2965252"/>
            <a:ext cx="30285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Human intervention needed to direct every request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2333823"/>
            <a:ext cx="3465624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6459" y="2552303"/>
            <a:ext cx="3028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📂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Scattered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459" y="2965252"/>
            <a:ext cx="3028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Relevant info spread across disconnected sources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021534"/>
            <a:ext cx="5298049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560" y="4240014"/>
            <a:ext cx="48611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🐌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Slow Resolution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6560" y="4652963"/>
            <a:ext cx="486110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demand fast, accurate, understandable answers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95560" y="4021534"/>
            <a:ext cx="5298049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4034" y="4240014"/>
            <a:ext cx="48611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One-Size-Fits-All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4034" y="4652963"/>
            <a:ext cx="48611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Generic workflows fail diverse support needs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2074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Our Solution: SupportFlow AI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413272"/>
            <a:ext cx="10795524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multi-agent system where a </a:t>
            </a:r>
            <a:r>
              <a:rPr lang="en-US" sz="1400" b="1" dirty="0">
                <a:solidFill>
                  <a:srgbClr val="6366F1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Coordinator</a:t>
            </a: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understands customer requests and routes them to specialist agents. Business operations are deterministic and database-backed — the LLM handles natural-language understanding only.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906" y="2140545"/>
            <a:ext cx="9635884" cy="41552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6338" y="5515876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 Tool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26338" y="4553995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Specialist Agent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6338" y="3601831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Coordinator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6338" y="2639950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Query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6948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Multi-Agent Architecture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10" y="1580158"/>
            <a:ext cx="4412346" cy="4412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8964" y="1525786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6366F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Coordinator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08964" y="1919188"/>
            <a:ext cx="519099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Understands intent, routes to specialists, orchestrates multi-agent workflows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8964" y="2583160"/>
            <a:ext cx="2523467" cy="1272282"/>
          </a:xfrm>
          <a:prstGeom prst="roundRect">
            <a:avLst>
              <a:gd name="adj" fmla="val 19991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7475" y="2771676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Order Agent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97475" y="3165078"/>
            <a:ext cx="214644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check_order · cancel_order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976493" y="2583160"/>
            <a:ext cx="2523467" cy="1272282"/>
          </a:xfrm>
          <a:prstGeom prst="roundRect">
            <a:avLst>
              <a:gd name="adj" fmla="val 19991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65004" y="2771676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Payment Agent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165004" y="3165078"/>
            <a:ext cx="214644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check_payment · check_refund_eligibility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8964" y="3999508"/>
            <a:ext cx="2523467" cy="1021358"/>
          </a:xfrm>
          <a:prstGeom prst="roundRect">
            <a:avLst>
              <a:gd name="adj" fmla="val 24902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7475" y="4188023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Delivery Agent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97475" y="4581426"/>
            <a:ext cx="214644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check_delivery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76493" y="3999508"/>
            <a:ext cx="2523467" cy="1021358"/>
          </a:xfrm>
          <a:prstGeom prst="roundRect">
            <a:avLst>
              <a:gd name="adj" fmla="val 24902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65004" y="4188023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Account Agent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165004" y="4581426"/>
            <a:ext cx="214644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check_account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08964" y="5182989"/>
            <a:ext cx="5190995" cy="845939"/>
          </a:xfrm>
          <a:prstGeom prst="roundRect">
            <a:avLst>
              <a:gd name="adj" fmla="val 30066"/>
            </a:avLst>
          </a:prstGeom>
          <a:solidFill>
            <a:srgbClr val="CFD6F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425" y="5405239"/>
            <a:ext cx="211926" cy="16946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9813" y="5355034"/>
            <a:ext cx="447068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Coordinator detects intents and routes requests to the relevant specialist agents.</a:t>
            </a:r>
            <a:endParaRPr lang="en-US" sz="13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7613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Intelligent Coordination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50" y="2406352"/>
            <a:ext cx="5504519" cy="2705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79653" y="2655318"/>
            <a:ext cx="1184703" cy="14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Execute Tools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079653" y="2848082"/>
            <a:ext cx="2545642" cy="11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 checks and actions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079653" y="3287548"/>
            <a:ext cx="1184703" cy="14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Select Specialists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079653" y="3480312"/>
            <a:ext cx="2545642" cy="11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Route to appropriate agents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079653" y="3919778"/>
            <a:ext cx="1184703" cy="14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Detect Intent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79653" y="4112542"/>
            <a:ext cx="2545642" cy="11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needed intents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085248" y="4552008"/>
            <a:ext cx="1184703" cy="14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Understand Query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085248" y="4744772"/>
            <a:ext cx="2545642" cy="11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Capture customer issue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974508" y="1536105"/>
            <a:ext cx="352535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Live Example</a:t>
            </a:r>
            <a:endParaRPr lang="en-US" sz="14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4335" y="1919188"/>
            <a:ext cx="239310" cy="2393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93012" y="1914327"/>
            <a:ext cx="300684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says: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493012" y="2276574"/>
            <a:ext cx="300684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"Payment was successful but my order is still pending."</a:t>
            </a:r>
            <a:endParaRPr lang="en-US" sz="12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4335" y="2996109"/>
            <a:ext cx="239310" cy="2393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3012" y="2991247"/>
            <a:ext cx="300684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Payment Agent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93012" y="3353495"/>
            <a:ext cx="300684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Checks payment status — confirmed successful</a:t>
            </a:r>
            <a:endParaRPr lang="en-US" sz="12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4335" y="4073029"/>
            <a:ext cx="239310" cy="2393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93012" y="4068167"/>
            <a:ext cx="300684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Coordinator re-plans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493012" y="4430415"/>
            <a:ext cx="300684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Detects residual order issue, activates Order Agent</a:t>
            </a:r>
            <a:endParaRPr lang="en-US" sz="12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4335" y="5149949"/>
            <a:ext cx="239310" cy="2393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93012" y="5145088"/>
            <a:ext cx="300684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Order Agent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493012" y="5507335"/>
            <a:ext cx="300684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Checks order status → Final resolution generated</a:t>
            </a:r>
            <a:endParaRPr lang="en-US" sz="12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655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 &amp; Data Layer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3144" y="1950839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366F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PostgreSQL Architecture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7744" y="2443063"/>
            <a:ext cx="2141385" cy="18202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03367" y="2468463"/>
            <a:ext cx="1865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Core Tables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903367" y="2961184"/>
            <a:ext cx="186576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· Products · Orders · Payments · Deliveries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3060" y="2443063"/>
            <a:ext cx="2141385" cy="18202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8683" y="2468463"/>
            <a:ext cx="1865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Relationships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7268683" y="2961184"/>
            <a:ext cx="1865762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 → Orders → Products | Orders → Payments | Orders → Deliveries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58376" y="2443063"/>
            <a:ext cx="2141484" cy="18202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33999" y="2468463"/>
            <a:ext cx="186586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633999" y="3254474"/>
            <a:ext cx="186586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SQLAlchemy ORM · FastAPI backend</a:t>
            </a:r>
            <a:endParaRPr lang="en-US" sz="1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7744" y="4611489"/>
            <a:ext cx="6872116" cy="11818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03367" y="4636889"/>
            <a:ext cx="659649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Integrity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4903367" y="5129609"/>
            <a:ext cx="659649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Foreign-key relationships + deterministic business rules ensure consistent, verifiable operations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1391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Technology Stack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899741"/>
            <a:ext cx="3465525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2910" y="2124571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2910" y="2537520"/>
            <a:ext cx="30158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1899741"/>
            <a:ext cx="3465525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7859" y="2124571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87859" y="2537520"/>
            <a:ext cx="30158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FastAPI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1899741"/>
            <a:ext cx="3465624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09" y="2124571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809" y="2537520"/>
            <a:ext cx="30159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3280966"/>
            <a:ext cx="3465525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2910" y="3505795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2910" y="3918744"/>
            <a:ext cx="30158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SQLAlchemy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63035" y="3280966"/>
            <a:ext cx="3465525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018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859" y="3505795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AI/LLM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7859" y="3918744"/>
            <a:ext cx="30158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Google Gemini API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27985" y="3280966"/>
            <a:ext cx="3465624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DA33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2809" y="3505795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Language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52809" y="3918744"/>
            <a:ext cx="30159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98086" y="4662190"/>
            <a:ext cx="10795524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910" y="4887020"/>
            <a:ext cx="103458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Configuration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2910" y="5299968"/>
            <a:ext cx="103458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Python-dotenv / Environment Variables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5516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Tools &amp; Business Logic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40805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77" y="1840805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Order Tools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6077" y="2253754"/>
            <a:ext cx="452505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check_order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retrieve full order status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cancel_order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execute cancellation with eligibility check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1840805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8455" y="1840805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Payment Tools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968455" y="2253754"/>
            <a:ext cx="452515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check_payment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verify transaction status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check_refund_eligibility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apply business refund rules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610273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46077" y="3610273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Delivery Tools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446077" y="4023221"/>
            <a:ext cx="452505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check_delivery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fetch delivery status and tracking data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463" y="3610273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68455" y="3610273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Account Tools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68455" y="4023221"/>
            <a:ext cx="452515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check_account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return safe profile info; auth-sensitive data excluded by design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698086" y="4885928"/>
            <a:ext cx="10795524" cy="1116905"/>
          </a:xfrm>
          <a:prstGeom prst="roundRect">
            <a:avLst>
              <a:gd name="adj" fmla="val 26790"/>
            </a:avLst>
          </a:prstGeom>
          <a:solidFill>
            <a:srgbClr val="CFD6F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510" y="5176540"/>
            <a:ext cx="249330" cy="1994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46266" y="5135166"/>
            <a:ext cx="994791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Design Principle:</a:t>
            </a: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Tools perform actual database operations. Agents decide which tool is relevant. The LLM never touches business logic directly.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41823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&amp; LLM Integration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503487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366F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Gemini's Role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2996208"/>
            <a:ext cx="2868541" cy="237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Interpret customer queries in natural language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 clear, human-friendly resolutions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Offline fallback available when API key is not configured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059533" y="2503487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F46E5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Deterministic Layer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59533" y="2996208"/>
            <a:ext cx="2868541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core business rules live in tools — not the LLM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 operations are verifiable and consistent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understands language; agents enforce logic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1392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Experience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88" y="1986657"/>
            <a:ext cx="3492909" cy="349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6565" y="1381820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Seamless Support Flow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726565" y="1727994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726565" y="1963043"/>
            <a:ext cx="5773295" cy="1905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7" name="Text 4"/>
          <p:cNvSpPr/>
          <p:nvPr/>
        </p:nvSpPr>
        <p:spPr>
          <a:xfrm>
            <a:off x="5726565" y="2075855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enters issue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26565" y="2407940"/>
            <a:ext cx="57732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Simple text interface — no complex forms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26565" y="2841625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26565" y="3076674"/>
            <a:ext cx="5773295" cy="1905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1" name="Text 8"/>
          <p:cNvSpPr/>
          <p:nvPr/>
        </p:nvSpPr>
        <p:spPr>
          <a:xfrm>
            <a:off x="5726565" y="3189486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System processes intelligently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726565" y="3521571"/>
            <a:ext cx="57732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IDs (Order ID, etc.) requested only when needed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26565" y="3955256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26565" y="4190305"/>
            <a:ext cx="5773295" cy="1905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5" name="Text 12"/>
          <p:cNvSpPr/>
          <p:nvPr/>
        </p:nvSpPr>
        <p:spPr>
          <a:xfrm>
            <a:off x="5726565" y="4303117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 checks all domains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726565" y="4635202"/>
            <a:ext cx="57732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Agents query relevant data sources in parallel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26565" y="506888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26565" y="5303937"/>
            <a:ext cx="5773295" cy="1905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19" name="Text 16"/>
          <p:cNvSpPr/>
          <p:nvPr/>
        </p:nvSpPr>
        <p:spPr>
          <a:xfrm>
            <a:off x="5726565" y="5416748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sees final resolution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726565" y="5748834"/>
            <a:ext cx="57732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Internal logs, debug info, and agent workflows stay hidden</a:t>
            </a:r>
            <a:endParaRPr lang="en-US" sz="11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2510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Real-World Demo Scenarios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10743"/>
            <a:ext cx="1105170" cy="683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54310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💳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Payment vs. Order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956050"/>
            <a:ext cx="25118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"Payment was successful but my order is still pending." → Checks payment + order → resolves discrepancy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74" y="2610743"/>
            <a:ext cx="1105170" cy="683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9274" y="354310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📦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Package Tracking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59274" y="3956050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"Where is my package ORD009?" → Checks order + delivery → returns live status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463" y="2610743"/>
            <a:ext cx="1105170" cy="6830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0463" y="354310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🔄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Cancel + Refund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20463" y="3956050"/>
            <a:ext cx="25118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"Cancel my order and check if I get a refund." → Checks eligibility → checks refund → dual resolution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652" y="2610743"/>
            <a:ext cx="1105170" cy="6830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1652" y="3543102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👤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Account Details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81652" y="3956050"/>
            <a:ext cx="2511957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"I want to know my account details." → Checks account → returns safe profile, auth data excluded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2180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Testing &amp; Validation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229885" y="1416645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26/26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98086" y="2118816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Tool Tests Passed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8086" y="2430066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individual tool functionalities confirmed.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707417" y="1416645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43/43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6175617" y="2118816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Agent Tests Passed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75617" y="2430066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Specialist agent logic and responses validated.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29885" y="2994819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31/31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8086" y="3696990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Coordinator Tests Passed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8086" y="4008239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Intent understanding and routing orchestration verified.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07417" y="2994819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100/100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6175617" y="3696990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Overall Test Suite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75617" y="4008239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Comprehensive system functionality and integration confirmed.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8086" y="4429423"/>
            <a:ext cx="10795524" cy="375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System Health &amp; Integrity</a:t>
            </a:r>
            <a:endParaRPr lang="en-US" sz="23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996458"/>
            <a:ext cx="319080" cy="3190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8086" y="5475089"/>
            <a:ext cx="257922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Health Endpoint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98086" y="5786338"/>
            <a:ext cx="257922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System status and API responsiveness verified.</a:t>
            </a:r>
            <a:endParaRPr lang="en-US" sz="12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6852" y="4996458"/>
            <a:ext cx="319080" cy="3190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36852" y="5475089"/>
            <a:ext cx="257922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 Connectivity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3436852" y="5786338"/>
            <a:ext cx="257922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Secure and consistent data access established.</a:t>
            </a:r>
            <a:endParaRPr lang="en-US" sz="12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5617" y="4996458"/>
            <a:ext cx="319080" cy="3190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5617" y="5475089"/>
            <a:ext cx="257922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PostgreSQL Tables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175617" y="5786338"/>
            <a:ext cx="257922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Schema integrity and data relationships validated.</a:t>
            </a:r>
            <a:endParaRPr lang="en-US" sz="12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4383" y="4996458"/>
            <a:ext cx="319080" cy="3190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14383" y="5475089"/>
            <a:ext cx="257922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Frontend Scenarios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914383" y="5786338"/>
            <a:ext cx="257922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 interactions and display flows tested.</a:t>
            </a:r>
            <a:endParaRPr lang="en-US" sz="12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859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 &amp; Future Scope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171601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SupportFlow AI combines multi-agent AI, business tools, and a structured database to deliver fast, reliable customer support. Specialist agents handle each task while core business logic stays separate from the LLM.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3109119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Future Scope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98086" y="3877667"/>
            <a:ext cx="3465525" cy="1794272"/>
          </a:xfrm>
          <a:prstGeom prst="roundRect">
            <a:avLst>
              <a:gd name="adj" fmla="val 16676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2910" y="4102497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More Specialist Domains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22910" y="4515445"/>
            <a:ext cx="30158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Expand agents to cover more customer and business needs.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3877667"/>
            <a:ext cx="3465525" cy="1794272"/>
          </a:xfrm>
          <a:prstGeom prst="roundRect">
            <a:avLst>
              <a:gd name="adj" fmla="val 16676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018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7859" y="4102497"/>
            <a:ext cx="301587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Enhanced Context &amp; Memory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7859" y="4808736"/>
            <a:ext cx="30158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Improve long-form conversations with stronger memory.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3877667"/>
            <a:ext cx="3465624" cy="1794272"/>
          </a:xfrm>
          <a:prstGeom prst="roundRect">
            <a:avLst>
              <a:gd name="adj" fmla="val 16676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DA33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2809" y="4102497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Analytics &amp; Monitoring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52809" y="4515445"/>
            <a:ext cx="30159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 performance, activity, and customer satisfaction in real time.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FCF8D57-04FA-30FB-BD6B-BEFF09D744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" b="287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98086" y="947539"/>
            <a:ext cx="10795524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00002E"/>
                </a:solidFill>
                <a:effectLst>
                  <a:glow rad="63500">
                    <a:srgbClr val="FFFFFF"/>
                  </a:glow>
                </a:effectLst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THANK YOU FOR YOUR TIME</a:t>
            </a:r>
            <a:endParaRPr lang="en-US" sz="5100" dirty="0">
              <a:effectLst>
                <a:glow rad="63500">
                  <a:srgbClr val="FFFFFF"/>
                </a:glo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698086" y="205630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effectLst>
                  <a:glow rad="63500">
                    <a:srgbClr val="FFFFFF"/>
                  </a:glow>
                </a:effectLst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SupportFlow AI</a:t>
            </a:r>
            <a:endParaRPr lang="en-US" sz="3650" dirty="0">
              <a:effectLst>
                <a:glow rad="63500">
                  <a:srgbClr val="FFFFFF"/>
                </a:glo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393293" y="2942134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effectLst>
                  <a:glow rad="63500">
                    <a:srgbClr val="FFFFFF"/>
                  </a:glow>
                </a:effectLst>
                <a:latin typeface="PT Sans" pitchFamily="34" charset="0"/>
                <a:ea typeface="PT Sans" pitchFamily="34" charset="-122"/>
                <a:cs typeface="PT Sans" pitchFamily="34" charset="-120"/>
              </a:rPr>
              <a:t>Intelligent support. Seamless resolution.</a:t>
            </a:r>
            <a:endParaRPr lang="en-US" sz="1550" dirty="0">
              <a:effectLst>
                <a:glow rad="63500">
                  <a:srgbClr val="FFFFFF"/>
                </a:glo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698086" y="3485654"/>
            <a:ext cx="10795524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8086" y="5355729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00002E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93293" y="5655270"/>
            <a:ext cx="1140510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50" dirty="0">
                <a:solidFill>
                  <a:srgbClr val="00002E"/>
                </a:solidFill>
                <a:effectLst>
                  <a:glow rad="63500">
                    <a:srgbClr val="FFFFFF"/>
                  </a:glow>
                </a:effectLst>
                <a:latin typeface="PT Sans" pitchFamily="34" charset="0"/>
                <a:ea typeface="PT Sans" pitchFamily="34" charset="-122"/>
                <a:cs typeface="PT Sans" pitchFamily="34" charset="-120"/>
              </a:rPr>
              <a:t>ARYA'S DOMAINVERSE 1.0 | 6-Day Technical Problem-Solving Program</a:t>
            </a:r>
            <a:endParaRPr lang="en-US" sz="1250" dirty="0">
              <a:effectLst>
                <a:glow rad="63500">
                  <a:srgbClr val="FFFFFF"/>
                </a:glow>
              </a:effectLst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846</Words>
  <Application>Microsoft Office PowerPoint</Application>
  <PresentationFormat>Widescreen</PresentationFormat>
  <Paragraphs>181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Noto Color Emoji</vt:lpstr>
      <vt:lpstr>Arial</vt:lpstr>
      <vt:lpstr>PT Sans</vt:lpstr>
      <vt:lpstr>Nunito Light</vt:lpstr>
      <vt:lpstr>PT Sans Bold</vt:lpstr>
      <vt:lpstr>Nunito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Mr.Aryan Sharma</dc:creator>
  <cp:lastModifiedBy>Mr.Aryan Sharma</cp:lastModifiedBy>
  <cp:revision>5</cp:revision>
  <dcterms:created xsi:type="dcterms:W3CDTF">2026-09-24T06:03:21Z</dcterms:created>
  <dcterms:modified xsi:type="dcterms:W3CDTF">2026-09-24T07:07:22Z</dcterms:modified>
</cp:coreProperties>
</file>